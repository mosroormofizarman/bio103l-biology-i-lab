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24" r:id="rId2"/>
    <p:sldId id="257" r:id="rId3"/>
    <p:sldId id="258" r:id="rId4"/>
    <p:sldId id="327" r:id="rId5"/>
    <p:sldId id="325" r:id="rId6"/>
    <p:sldId id="259" r:id="rId7"/>
    <p:sldId id="260" r:id="rId8"/>
    <p:sldId id="261" r:id="rId9"/>
    <p:sldId id="262" r:id="rId10"/>
    <p:sldId id="326" r:id="rId11"/>
    <p:sldId id="328" r:id="rId12"/>
    <p:sldId id="263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19BD"/>
    <a:srgbClr val="755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39235-2355-4A30-9643-80AF0AD84463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ECA04-EEC5-445D-9724-11C57C448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6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86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874C2-CAD5-892D-5BD4-6CF3A210F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D7E9F-B6DC-8046-1EFA-440604A97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364A6-5F73-CD38-D3BF-F032E367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B3EEF-D9BF-C9E0-0B22-E45B3EF7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B9FE1-C2E5-E927-86E7-EF0A2D57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0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25C0-801C-9455-8132-817A4A06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E4437-CC36-85D5-1405-64DC9D455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87921-8819-6101-DE6E-FA2D176D7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8347A-2C91-F1D0-0116-0E61011E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5143-0B88-6666-5751-2299B1BD9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14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3303-7C7B-4606-79AA-E7D444DCA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50E91-7C7F-2F59-C7E6-58615AC69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CE49A-DEE2-8018-2ACD-5C2605AA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52676-960A-DD50-C6F8-2590F560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97F66-00D1-0DD3-AAB8-587870AEE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7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DD2B-99DE-3A7A-F897-CA82A9C2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BB526-F53E-D547-C5C8-025F600E3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31053-D093-11A5-85ED-23746F3E4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55094-29E4-07CD-74A2-5A59B099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43889-6C19-3E09-AA0C-798FF7889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1CE70-66F7-284B-AD2C-7A52828D7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9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EAFD5-247E-6621-9823-CB2EF662A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7634E-A589-2FDD-CC6B-799D7526F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E67DC-30AF-51CB-81F5-274503959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A699F-7DE4-0E65-28F3-F82C26FFE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34EF5-8D26-2002-7292-9E060739C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5D3EDC-C044-C63A-9EFB-90AED27E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5A468-7BCF-E658-5E36-0A5CCA6D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083A7-DA7A-2FFD-441F-22E6D0923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6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A4A6C-746B-5E96-DCA0-64A042329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FDC61-0E96-7524-B253-5A8A60143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B23F4-C62C-7217-24EA-67ADDE61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0AE2D-D825-9258-6992-E4AA79FC0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14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C1137-0F5F-67E8-2559-E5CC4DB47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1FB7DF-9173-8D0B-2433-91ECB311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B9755-1C81-CBEF-FF24-7ED3C9FA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0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FDE1-6E78-35D7-0CFE-F73554B13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F777A-DD4C-D330-BB19-875A2952F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E1B0C-D9CF-F658-A4C4-F3531161B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3B0D4-71FF-6661-5193-B1C0F753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FF012-866F-19F4-8E88-DB715A82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DADA0-E5D9-5ED2-533B-C8943FFD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9F0B-540A-DFEE-91FD-A3BD55492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04735-20D8-1262-7A1C-E4F3309C8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08C2A-3ACD-BAA6-1AB8-41489E0C4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93B01-471B-2CC4-C661-1E087D31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0F0F7-44D7-8F5F-AF53-67595CE71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AED25-D211-212B-A533-19211370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68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9A8DC-E86B-0BBE-C209-FF97364E3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D208A-EF93-D154-416F-833B9941A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2A76B-662C-8ECF-6570-521F06AA5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43013-B8FE-9A2E-8E44-E3A89E292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1A7D0-E9FE-068F-0BC4-13CA80AE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8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7A8C1C-6186-1FE5-3087-531B7828BB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84D17B-F2F5-56AE-9867-252A91095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B0166-E0E1-9A84-3786-DAFCD422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5665B-A60F-783E-14F0-62D815266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62093-A499-065E-334C-0677B325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1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FBDC1C-122B-D1ED-AEF7-68DBD77F0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67083-E8B1-82B0-A504-054234D70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1070B-950C-AD8C-3B7C-541AC300A5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CEC80-09EC-4C81-B566-504B3195316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A3D3-F067-2100-4666-664D13BFF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FB166-5E55-20CC-9663-FF5F0740C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0B314D-A4E8-4AEB-80A8-62C1741F9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3fHlfA1TEc" TargetMode="External"/><Relationship Id="rId2" Type="http://schemas.openxmlformats.org/officeDocument/2006/relationships/hyperlink" Target="https://www.youtube.com/watch?v=WPCiGaT4uRI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4820195" y="1470194"/>
            <a:ext cx="5900058" cy="158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erdana"/>
              <a:buNone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BIO103 Lab 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</a:b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(1 credit hour)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FALL 2025</a:t>
            </a:r>
            <a:endParaRPr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4820195" y="3709852"/>
            <a:ext cx="5760719" cy="80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</a:pPr>
            <a:r>
              <a:rPr lang="en-US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Dept. of Biochemistry &amp; Microbiology</a:t>
            </a:r>
            <a:endParaRPr b="1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pic>
        <p:nvPicPr>
          <p:cNvPr id="90" name="Google Shape;90;p13" descr="C:\Users\Abdul Khaleque\Desktop\NSU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210" y="711923"/>
            <a:ext cx="3749722" cy="4690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716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4320590" y="2013228"/>
            <a:ext cx="355081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Experiment 4</a:t>
            </a:r>
          </a:p>
        </p:txBody>
      </p:sp>
      <p:sp>
        <p:nvSpPr>
          <p:cNvPr id="3" name="Google Shape;95;p14">
            <a:extLst>
              <a:ext uri="{FF2B5EF4-FFF2-40B4-BE49-F238E27FC236}">
                <a16:creationId xmlns:a16="http://schemas.microsoft.com/office/drawing/2014/main" id="{877B8797-7BBB-B5B3-AF17-B18B7E5038F8}"/>
              </a:ext>
            </a:extLst>
          </p:cNvPr>
          <p:cNvSpPr/>
          <p:nvPr/>
        </p:nvSpPr>
        <p:spPr>
          <a:xfrm>
            <a:off x="1040524" y="2721114"/>
            <a:ext cx="1065749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Biuret test for determination of protein in milk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29335" y="499958"/>
            <a:ext cx="101333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7558D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Biuret test for determining the presence of milk proteins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7700" y="1682453"/>
            <a:ext cx="10350371" cy="42601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820" marR="5080" indent="-198120" algn="just">
              <a:spcBef>
                <a:spcPts val="1200"/>
              </a:spcBef>
              <a:buFont typeface="Arial"/>
              <a:buChar char="•"/>
              <a:tabLst>
                <a:tab pos="21082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abundant and diverse molecules found in living cells are proteins.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0820" marR="5080" indent="-198120" algn="just">
              <a:spcBef>
                <a:spcPts val="1200"/>
              </a:spcBef>
              <a:buFont typeface="Arial"/>
              <a:buChar char="•"/>
              <a:tabLst>
                <a:tab pos="21082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macromolecule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that is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composed of one or more polypeptide chains, each with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 sequence of amino acids linked by peptide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bonds.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0820" indent="-198120">
              <a:spcBef>
                <a:spcPts val="1200"/>
              </a:spcBef>
              <a:buFont typeface="Arial"/>
              <a:buChar char="•"/>
              <a:tabLst>
                <a:tab pos="21082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building blocks of proteins are amino acids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(AA’s).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0820" indent="-198120">
              <a:spcBef>
                <a:spcPts val="1200"/>
              </a:spcBef>
              <a:buFont typeface="Arial"/>
              <a:buChar char="•"/>
              <a:tabLst>
                <a:tab pos="210820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different AA’s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make up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proteins.</a:t>
            </a:r>
            <a:endParaRPr lang="en-US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0820" indent="-198120">
              <a:spcBef>
                <a:spcPts val="1200"/>
              </a:spcBef>
              <a:buFont typeface="Arial"/>
              <a:buChar char="•"/>
              <a:tabLst>
                <a:tab pos="21082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 amino acids are similar in structure but have different side chains. </a:t>
            </a:r>
          </a:p>
          <a:p>
            <a:pPr marL="210820" indent="-198120">
              <a:spcBef>
                <a:spcPts val="1200"/>
              </a:spcBef>
              <a:buFont typeface="Arial"/>
              <a:buChar char="•"/>
              <a:tabLst>
                <a:tab pos="21082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center of the molecule is the alpha carbon that is connected to an amino group,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carboxyl group, a hydrogen atom, and the R group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 side chain).</a:t>
            </a:r>
          </a:p>
          <a:p>
            <a:pPr marL="210820" indent="-19812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210820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7D92C3-BDF0-56D1-D684-6BB4B2E9A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9348" y="1284050"/>
            <a:ext cx="7213304" cy="450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5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DBEE8C9-04D1-4BC3-A789-BB3B730F4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6185" y="949399"/>
            <a:ext cx="7058519" cy="57879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2638AD1-684B-4333-9C53-F5EF5CF04382}"/>
              </a:ext>
            </a:extLst>
          </p:cNvPr>
          <p:cNvSpPr/>
          <p:nvPr/>
        </p:nvSpPr>
        <p:spPr>
          <a:xfrm>
            <a:off x="5865777" y="6574490"/>
            <a:ext cx="35488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https://study.com/learn/lesson/peptide-bond-formation-examples.html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2C3E122A-D551-D2C1-C251-A2E802CD0331}"/>
              </a:ext>
            </a:extLst>
          </p:cNvPr>
          <p:cNvSpPr txBox="1"/>
          <p:nvPr/>
        </p:nvSpPr>
        <p:spPr>
          <a:xfrm>
            <a:off x="3711825" y="200121"/>
            <a:ext cx="47683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spc="-5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Peptide bond formation</a:t>
            </a:r>
            <a:endParaRPr sz="3200" b="1" spc="-5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82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9295" y="343235"/>
            <a:ext cx="59821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Functions of</a:t>
            </a:r>
            <a:r>
              <a:rPr sz="3200" b="1" spc="-9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 </a:t>
            </a:r>
            <a:r>
              <a:rPr sz="3200" b="1" spc="-5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Proteins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320" y="1126554"/>
            <a:ext cx="5566679" cy="527259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10185" indent="-198120">
              <a:lnSpc>
                <a:spcPct val="100000"/>
              </a:lnSpc>
              <a:spcBef>
                <a:spcPts val="115"/>
              </a:spcBef>
              <a:buFont typeface="Arial"/>
              <a:buChar char="•"/>
              <a:tabLst>
                <a:tab pos="21082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Protein's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is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build, maintain</a:t>
            </a:r>
            <a:r>
              <a:rPr lang="en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repair all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body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tissues.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0185" indent="-198120">
              <a:lnSpc>
                <a:spcPct val="100000"/>
              </a:lnSpc>
              <a:buFont typeface="Arial"/>
              <a:buChar char="•"/>
              <a:tabLst>
                <a:tab pos="21082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used as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energy source by the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0185" indent="-19812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10820" algn="l"/>
              </a:tabLst>
            </a:pP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proteins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protective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defensive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0185" indent="-198120">
              <a:lnSpc>
                <a:spcPct val="100000"/>
              </a:lnSpc>
              <a:buFont typeface="Arial"/>
              <a:buChar char="•"/>
              <a:tabLst>
                <a:tab pos="21082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Proteins serve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carrier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transporters of essential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substances.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0185" indent="-198120">
              <a:lnSpc>
                <a:spcPct val="100000"/>
              </a:lnSpc>
              <a:buFont typeface="Arial"/>
              <a:buChar char="•"/>
              <a:tabLst>
                <a:tab pos="210820" algn="l"/>
              </a:tabLst>
            </a:pPr>
            <a:r>
              <a:rPr sz="2000" b="1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proteins: Structural proteins </a:t>
            </a:r>
            <a:r>
              <a:rPr sz="2000" b="1" spc="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</a:t>
            </a:r>
            <a:r>
              <a:rPr sz="2000" b="1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proteins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0730" lvl="1" indent="-342900">
              <a:lnSpc>
                <a:spcPct val="100000"/>
              </a:lnSpc>
              <a:spcBef>
                <a:spcPts val="1330"/>
              </a:spcBef>
              <a:buFont typeface="Wingdings" pitchFamily="2" charset="2"/>
              <a:buChar char="Ø"/>
              <a:tabLst>
                <a:tab pos="739140" algn="l"/>
                <a:tab pos="739775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proteins</a:t>
            </a:r>
            <a:r>
              <a:rPr lang="en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i.e., collagen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elastin</a:t>
            </a:r>
          </a:p>
          <a:p>
            <a:pPr marL="760731" lvl="1" indent="-342900">
              <a:lnSpc>
                <a:spcPct val="100000"/>
              </a:lnSpc>
              <a:spcBef>
                <a:spcPts val="1305"/>
              </a:spcBef>
              <a:buFont typeface="Wingdings" pitchFamily="2" charset="2"/>
              <a:buChar char="Ø"/>
              <a:tabLst>
                <a:tab pos="66802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proteins</a:t>
            </a:r>
            <a:r>
              <a:rPr lang="en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i.e., enzymes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EB8D6-C1B6-709C-053C-D1D755BC7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765" y="1292043"/>
            <a:ext cx="5575422" cy="5185143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214869-1E9F-4F75-D5EE-E4FA92137821}"/>
              </a:ext>
            </a:extLst>
          </p:cNvPr>
          <p:cNvSpPr txBox="1"/>
          <p:nvPr/>
        </p:nvSpPr>
        <p:spPr>
          <a:xfrm>
            <a:off x="10720378" y="6477186"/>
            <a:ext cx="13142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2"/>
                </a:solidFill>
              </a:rPr>
              <a:t>https://www.eufic.org/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00387" y="518504"/>
            <a:ext cx="25863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Milk</a:t>
            </a:r>
            <a:r>
              <a:rPr sz="3000" b="1" spc="-95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 </a:t>
            </a:r>
            <a:r>
              <a:rPr sz="3000" b="1" spc="-5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Protein</a:t>
            </a:r>
            <a:endParaRPr sz="30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6558" y="1809809"/>
            <a:ext cx="7106917" cy="3659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94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764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Milk contains 3.3% total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7010" indent="-194945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0764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all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amino acids required by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7010" indent="-194945" algn="just">
              <a:lnSpc>
                <a:spcPct val="100000"/>
              </a:lnSpc>
              <a:buFont typeface="Arial"/>
              <a:buChar char="•"/>
              <a:tabLst>
                <a:tab pos="20764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major categories of milk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proteins,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4220" lvl="1" indent="-332740" algn="just">
              <a:lnSpc>
                <a:spcPct val="100000"/>
              </a:lnSpc>
              <a:spcBef>
                <a:spcPts val="1614"/>
              </a:spcBef>
              <a:buFont typeface="Noto Sans Symbols"/>
              <a:buChar char="□"/>
              <a:tabLst>
                <a:tab pos="744220" algn="l"/>
                <a:tab pos="74485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casein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4220" lvl="1" indent="-332740" algn="just">
              <a:lnSpc>
                <a:spcPct val="100000"/>
              </a:lnSpc>
              <a:spcBef>
                <a:spcPts val="1590"/>
              </a:spcBef>
              <a:buFont typeface="Noto Sans Symbols"/>
              <a:buChar char="□"/>
              <a:tabLst>
                <a:tab pos="744220" algn="l"/>
                <a:tab pos="74485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whey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indent="-274955" algn="just">
              <a:lnSpc>
                <a:spcPct val="100000"/>
              </a:lnSpc>
              <a:spcBef>
                <a:spcPts val="2090"/>
              </a:spcBef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Milk proteins are synthesized in the mammary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gland.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AE240-CDCD-7533-2102-DA49A2225C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66"/>
          <a:stretch/>
        </p:blipFill>
        <p:spPr>
          <a:xfrm>
            <a:off x="8657617" y="1639263"/>
            <a:ext cx="2950318" cy="375457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086A46-2472-8AC2-5643-F39EBA92AB58}"/>
              </a:ext>
            </a:extLst>
          </p:cNvPr>
          <p:cNvSpPr txBox="1"/>
          <p:nvPr/>
        </p:nvSpPr>
        <p:spPr>
          <a:xfrm>
            <a:off x="8657617" y="5208220"/>
            <a:ext cx="304718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dirty="0">
                <a:solidFill>
                  <a:schemeClr val="bg2"/>
                </a:solidFill>
              </a:rPr>
              <a:t>https://www.britannica.com/topic/milk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5210" y="475001"/>
            <a:ext cx="242131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Principle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2986" y="1198620"/>
            <a:ext cx="7146925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marR="5080" indent="-194945">
              <a:lnSpc>
                <a:spcPct val="149300"/>
              </a:lnSpc>
              <a:spcBef>
                <a:spcPts val="100"/>
              </a:spcBef>
              <a:buFont typeface="Arial"/>
              <a:buChar char="•"/>
              <a:tabLst>
                <a:tab pos="207645" algn="l"/>
                <a:tab pos="1370965" algn="l"/>
                <a:tab pos="1766570" algn="l"/>
                <a:tab pos="2630805" algn="l"/>
                <a:tab pos="3690620" algn="l"/>
                <a:tab pos="4351655" algn="l"/>
                <a:tab pos="5381625" algn="l"/>
                <a:tab pos="6246495" algn="l"/>
              </a:tabLst>
            </a:pPr>
            <a:r>
              <a:rPr sz="1800" spc="-5" dirty="0">
                <a:latin typeface="Verdana"/>
                <a:cs typeface="Verdana"/>
              </a:rPr>
              <a:t>Reactio</a:t>
            </a:r>
            <a:r>
              <a:rPr sz="1800" dirty="0">
                <a:latin typeface="Verdana"/>
                <a:cs typeface="Verdana"/>
              </a:rPr>
              <a:t>n	</a:t>
            </a:r>
            <a:r>
              <a:rPr sz="1800" spc="-5" dirty="0">
                <a:latin typeface="Verdana"/>
                <a:cs typeface="Verdana"/>
              </a:rPr>
              <a:t>o</a:t>
            </a:r>
            <a:r>
              <a:rPr sz="1800" dirty="0">
                <a:latin typeface="Verdana"/>
                <a:cs typeface="Verdana"/>
              </a:rPr>
              <a:t>f	</a:t>
            </a:r>
            <a:r>
              <a:rPr sz="1800" spc="-5" dirty="0">
                <a:latin typeface="Verdana"/>
                <a:cs typeface="Verdana"/>
              </a:rPr>
              <a:t>Biure</a:t>
            </a:r>
            <a:r>
              <a:rPr sz="1800" dirty="0">
                <a:latin typeface="Verdana"/>
                <a:cs typeface="Verdana"/>
              </a:rPr>
              <a:t>t	</a:t>
            </a:r>
            <a:r>
              <a:rPr sz="1800" spc="-5" dirty="0">
                <a:latin typeface="Verdana"/>
                <a:cs typeface="Verdana"/>
              </a:rPr>
              <a:t>reagen</a:t>
            </a:r>
            <a:r>
              <a:rPr sz="1800" dirty="0">
                <a:latin typeface="Verdana"/>
                <a:cs typeface="Verdana"/>
              </a:rPr>
              <a:t>t	</a:t>
            </a:r>
            <a:r>
              <a:rPr sz="1800" spc="-5" dirty="0">
                <a:latin typeface="Verdana"/>
                <a:cs typeface="Verdana"/>
              </a:rPr>
              <a:t>wit</a:t>
            </a:r>
            <a:r>
              <a:rPr sz="1800" dirty="0">
                <a:latin typeface="Verdana"/>
                <a:cs typeface="Verdana"/>
              </a:rPr>
              <a:t>h	</a:t>
            </a:r>
            <a:r>
              <a:rPr sz="1800" spc="-5" dirty="0">
                <a:latin typeface="Verdana"/>
                <a:cs typeface="Verdana"/>
              </a:rPr>
              <a:t>peptid</a:t>
            </a:r>
            <a:r>
              <a:rPr sz="1800" dirty="0">
                <a:latin typeface="Verdana"/>
                <a:cs typeface="Verdana"/>
              </a:rPr>
              <a:t>e	</a:t>
            </a:r>
            <a:r>
              <a:rPr sz="1800" spc="-5" dirty="0">
                <a:latin typeface="Verdana"/>
                <a:cs typeface="Verdana"/>
              </a:rPr>
              <a:t>bond</a:t>
            </a:r>
            <a:r>
              <a:rPr sz="1800" dirty="0">
                <a:latin typeface="Verdana"/>
                <a:cs typeface="Verdana"/>
              </a:rPr>
              <a:t>s	</a:t>
            </a:r>
            <a:r>
              <a:rPr sz="1800" spc="-5" dirty="0">
                <a:latin typeface="Verdana"/>
                <a:cs typeface="Verdana"/>
              </a:rPr>
              <a:t>forming  chelate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complex.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2986" y="2280020"/>
            <a:ext cx="5107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94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7645" algn="l"/>
                <a:tab pos="690245" algn="l"/>
                <a:tab pos="1270000" algn="l"/>
                <a:tab pos="1795145" algn="l"/>
                <a:tab pos="3157220" algn="l"/>
                <a:tab pos="4010660" algn="l"/>
              </a:tabLst>
            </a:pPr>
            <a:r>
              <a:rPr sz="1800" spc="-5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u	</a:t>
            </a:r>
            <a:r>
              <a:rPr sz="1800" spc="-5" dirty="0">
                <a:latin typeface="Verdana"/>
                <a:cs typeface="Verdana"/>
              </a:rPr>
              <a:t>(II</a:t>
            </a:r>
            <a:r>
              <a:rPr sz="1800" dirty="0">
                <a:latin typeface="Verdana"/>
                <a:cs typeface="Verdana"/>
              </a:rPr>
              <a:t>)	</a:t>
            </a:r>
            <a:r>
              <a:rPr sz="1800" spc="-5" dirty="0">
                <a:latin typeface="Verdana"/>
                <a:cs typeface="Verdana"/>
              </a:rPr>
              <a:t>io</a:t>
            </a:r>
            <a:r>
              <a:rPr sz="1800" dirty="0">
                <a:latin typeface="Verdana"/>
                <a:cs typeface="Verdana"/>
              </a:rPr>
              <a:t>n	</a:t>
            </a:r>
            <a:r>
              <a:rPr sz="1800" spc="-5" dirty="0">
                <a:latin typeface="Verdana"/>
                <a:cs typeface="Verdana"/>
              </a:rPr>
              <a:t>containin</a:t>
            </a:r>
            <a:r>
              <a:rPr sz="1800" dirty="0">
                <a:latin typeface="Verdana"/>
                <a:cs typeface="Verdana"/>
              </a:rPr>
              <a:t>g	</a:t>
            </a:r>
            <a:r>
              <a:rPr sz="1800" spc="-5" dirty="0">
                <a:latin typeface="Verdana"/>
                <a:cs typeface="Verdana"/>
              </a:rPr>
              <a:t>biure</a:t>
            </a:r>
            <a:r>
              <a:rPr sz="1800" dirty="0">
                <a:latin typeface="Verdana"/>
                <a:cs typeface="Verdana"/>
              </a:rPr>
              <a:t>t	</a:t>
            </a:r>
            <a:r>
              <a:rPr sz="1800" spc="-5" dirty="0">
                <a:latin typeface="Verdana"/>
                <a:cs typeface="Verdana"/>
              </a:rPr>
              <a:t>reagents,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3326" y="2200651"/>
            <a:ext cx="1882775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" marR="5080" indent="-25400">
              <a:lnSpc>
                <a:spcPct val="151600"/>
              </a:lnSpc>
              <a:spcBef>
                <a:spcPts val="100"/>
              </a:spcBef>
              <a:tabLst>
                <a:tab pos="1068070" algn="l"/>
                <a:tab pos="1099185" algn="l"/>
                <a:tab pos="1731645" algn="l"/>
              </a:tabLst>
            </a:pPr>
            <a:r>
              <a:rPr sz="1800" spc="-5" dirty="0">
                <a:latin typeface="Verdana"/>
                <a:cs typeface="Verdana"/>
              </a:rPr>
              <a:t>interac</a:t>
            </a:r>
            <a:r>
              <a:rPr sz="1800" dirty="0">
                <a:latin typeface="Verdana"/>
                <a:cs typeface="Verdana"/>
              </a:rPr>
              <a:t>t	</a:t>
            </a:r>
            <a:r>
              <a:rPr sz="1800" spc="-5" dirty="0">
                <a:latin typeface="Verdana"/>
                <a:cs typeface="Verdana"/>
              </a:rPr>
              <a:t>wit</a:t>
            </a:r>
            <a:r>
              <a:rPr sz="1800" dirty="0">
                <a:latin typeface="Verdana"/>
                <a:cs typeface="Verdana"/>
              </a:rPr>
              <a:t>h	a  </a:t>
            </a:r>
            <a:r>
              <a:rPr sz="1800" spc="-5" dirty="0">
                <a:latin typeface="Verdana"/>
                <a:cs typeface="Verdana"/>
              </a:rPr>
              <a:t>peptid</a:t>
            </a:r>
            <a:r>
              <a:rPr sz="1800" dirty="0">
                <a:latin typeface="Verdana"/>
                <a:cs typeface="Verdana"/>
              </a:rPr>
              <a:t>e		</a:t>
            </a:r>
            <a:r>
              <a:rPr sz="1800" spc="-5" dirty="0">
                <a:latin typeface="Verdana"/>
                <a:cs typeface="Verdana"/>
              </a:rPr>
              <a:t>bonds,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7317" y="2695947"/>
            <a:ext cx="4908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0970" algn="l"/>
                <a:tab pos="2082800" algn="l"/>
                <a:tab pos="3244850" algn="l"/>
                <a:tab pos="3681095" algn="l"/>
                <a:tab pos="4434840" algn="l"/>
              </a:tabLst>
            </a:pPr>
            <a:r>
              <a:rPr sz="1800" spc="-5" dirty="0">
                <a:latin typeface="Verdana"/>
                <a:cs typeface="Verdana"/>
              </a:rPr>
              <a:t>compoun</a:t>
            </a:r>
            <a:r>
              <a:rPr sz="1800" dirty="0">
                <a:latin typeface="Verdana"/>
                <a:cs typeface="Verdana"/>
              </a:rPr>
              <a:t>d	</a:t>
            </a:r>
            <a:r>
              <a:rPr sz="1800" spc="-5" dirty="0">
                <a:latin typeface="Verdana"/>
                <a:cs typeface="Verdana"/>
              </a:rPr>
              <a:t>tha</a:t>
            </a:r>
            <a:r>
              <a:rPr sz="1800" dirty="0">
                <a:latin typeface="Verdana"/>
                <a:cs typeface="Verdana"/>
              </a:rPr>
              <a:t>t	</a:t>
            </a:r>
            <a:r>
              <a:rPr sz="1800" spc="-5" dirty="0">
                <a:latin typeface="Verdana"/>
                <a:cs typeface="Verdana"/>
              </a:rPr>
              <a:t>contain</a:t>
            </a:r>
            <a:r>
              <a:rPr sz="1800" dirty="0">
                <a:latin typeface="Verdana"/>
                <a:cs typeface="Verdana"/>
              </a:rPr>
              <a:t>s	</a:t>
            </a:r>
            <a:r>
              <a:rPr sz="1800" spc="-5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t	</a:t>
            </a:r>
            <a:r>
              <a:rPr sz="1800" spc="-5" dirty="0">
                <a:latin typeface="Verdana"/>
                <a:cs typeface="Verdana"/>
              </a:rPr>
              <a:t>leas</a:t>
            </a:r>
            <a:r>
              <a:rPr sz="1800" dirty="0">
                <a:latin typeface="Verdana"/>
                <a:cs typeface="Verdana"/>
              </a:rPr>
              <a:t>t	</a:t>
            </a:r>
            <a:r>
              <a:rPr sz="1800" spc="-5" dirty="0">
                <a:latin typeface="Verdana"/>
                <a:cs typeface="Verdana"/>
              </a:rPr>
              <a:t>four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2986" y="3105521"/>
            <a:ext cx="7143115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resulting in the formation of violet/purple colored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complex.</a:t>
            </a:r>
            <a:endParaRPr sz="1800" dirty="0">
              <a:latin typeface="Verdana"/>
              <a:cs typeface="Verdana"/>
            </a:endParaRPr>
          </a:p>
          <a:p>
            <a:pPr marL="207010" marR="5080" indent="-194945">
              <a:lnSpc>
                <a:spcPct val="151600"/>
              </a:lnSpc>
              <a:spcBef>
                <a:spcPts val="950"/>
              </a:spcBef>
              <a:buFont typeface="Arial"/>
              <a:buChar char="•"/>
              <a:tabLst>
                <a:tab pos="207645" algn="l"/>
              </a:tabLst>
            </a:pP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color change from blue to violet indicates that proteins  are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present.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2986" y="4452982"/>
            <a:ext cx="7147559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marR="5080" indent="-194945">
              <a:lnSpc>
                <a:spcPct val="151600"/>
              </a:lnSpc>
              <a:spcBef>
                <a:spcPts val="100"/>
              </a:spcBef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latin typeface="Verdana"/>
                <a:cs typeface="Verdana"/>
              </a:rPr>
              <a:t>The greater the concentration of peptide bonds, the greater  the color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intensity.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89549" y="4794770"/>
            <a:ext cx="300736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Verdana"/>
                <a:cs typeface="Verdana"/>
              </a:rPr>
              <a:t>Reaction of Biuret reagent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with  peptide bonds forming chelate  complex.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133" y="1758048"/>
            <a:ext cx="3250193" cy="26702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9768" y="492788"/>
            <a:ext cx="35052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Principle</a:t>
            </a:r>
            <a:r>
              <a:rPr sz="3600" b="1" spc="-9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 </a:t>
            </a:r>
            <a:r>
              <a:rPr sz="3600" b="1" spc="-5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(cont.)</a:t>
            </a:r>
            <a:endParaRPr sz="36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9566" y="1737282"/>
            <a:ext cx="5570883" cy="39762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marR="15240" indent="-194945">
              <a:lnSpc>
                <a:spcPct val="149300"/>
              </a:lnSpc>
              <a:spcBef>
                <a:spcPts val="100"/>
              </a:spcBef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latin typeface="Verdana"/>
                <a:cs typeface="Verdana"/>
              </a:rPr>
              <a:t>If the concentration of peptide bonds is low, it results the color change is from  the blue to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pink.</a:t>
            </a:r>
            <a:endParaRPr sz="1800" dirty="0">
              <a:latin typeface="Verdana"/>
              <a:cs typeface="Verdana"/>
            </a:endParaRPr>
          </a:p>
          <a:p>
            <a:pPr marL="207010" marR="5080" indent="-194945">
              <a:lnSpc>
                <a:spcPct val="151600"/>
              </a:lnSpc>
              <a:spcBef>
                <a:spcPts val="950"/>
              </a:spcBef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latin typeface="Verdana"/>
                <a:cs typeface="Verdana"/>
              </a:rPr>
              <a:t>Single amino acids (no peptide bonds present) and dipeptide (only </a:t>
            </a:r>
            <a:r>
              <a:rPr sz="1800" dirty="0">
                <a:latin typeface="Verdana"/>
                <a:cs typeface="Verdana"/>
              </a:rPr>
              <a:t>1 </a:t>
            </a:r>
            <a:r>
              <a:rPr sz="1800" spc="-5" dirty="0">
                <a:latin typeface="Verdana"/>
                <a:cs typeface="Verdana"/>
              </a:rPr>
              <a:t>peptide  bond present) which will give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negative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result.</a:t>
            </a:r>
            <a:endParaRPr sz="1800" dirty="0">
              <a:latin typeface="Verdana"/>
              <a:cs typeface="Verdana"/>
            </a:endParaRPr>
          </a:p>
          <a:p>
            <a:pPr marL="207010" marR="7620" indent="-194945">
              <a:lnSpc>
                <a:spcPct val="151600"/>
              </a:lnSpc>
              <a:spcBef>
                <a:spcPts val="950"/>
              </a:spcBef>
              <a:buFont typeface="Arial"/>
              <a:buChar char="•"/>
              <a:tabLst>
                <a:tab pos="207645" algn="l"/>
              </a:tabLst>
            </a:pPr>
            <a:r>
              <a:rPr sz="1800" spc="-5" dirty="0">
                <a:latin typeface="Verdana"/>
                <a:cs typeface="Verdana"/>
              </a:rPr>
              <a:t>Peptides with at least </a:t>
            </a:r>
            <a:r>
              <a:rPr lang="en-US" sz="1800" spc="-5" dirty="0">
                <a:latin typeface="Verdana"/>
                <a:cs typeface="Verdana"/>
              </a:rPr>
              <a:t>four</a:t>
            </a:r>
            <a:r>
              <a:rPr sz="1800" spc="-5" dirty="0">
                <a:latin typeface="Verdana"/>
                <a:cs typeface="Verdana"/>
              </a:rPr>
              <a:t> peptide bonds are required for the formation of the  chelate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complex.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11049" y="1536365"/>
            <a:ext cx="5188601" cy="4378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06D966-1B31-41C0-9C4B-31AB60AAF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361" y="0"/>
            <a:ext cx="8383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07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19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A9923-2046-0DB9-0A11-899C94E6993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15792"/>
            <a:ext cx="10515600" cy="2741969"/>
          </a:xfrm>
          <a:prstGeom prst="rect">
            <a:avLst/>
          </a:prstGeom>
          <a:solidFill>
            <a:srgbClr val="7F19BD">
              <a:alpha val="47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Biuret test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https://www.youtube.com/watch?v=WPCiGaT4uRI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https://www.youtube.com/watch?v=03fHlfA1TEc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430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1515" y="373979"/>
            <a:ext cx="310610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EXPERIMENT</a:t>
            </a:r>
            <a:endParaRPr b="1" spc="-5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3513" y="1305824"/>
            <a:ext cx="15373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94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7645" algn="l"/>
              </a:tabLst>
            </a:pPr>
            <a:r>
              <a:rPr sz="24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Verdana"/>
              </a:rPr>
              <a:t>Apparatus</a:t>
            </a:r>
            <a:endParaRPr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3562" y="2010393"/>
            <a:ext cx="2157730" cy="172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indent="-252095">
              <a:lnSpc>
                <a:spcPct val="100000"/>
              </a:lnSpc>
              <a:spcBef>
                <a:spcPts val="100"/>
              </a:spcBef>
              <a:buFont typeface="Noto Sans Symbols"/>
              <a:buChar char="□"/>
              <a:tabLst>
                <a:tab pos="264795" algn="l"/>
              </a:tabLst>
            </a:pPr>
            <a:r>
              <a:rPr sz="1800" spc="-5" dirty="0">
                <a:latin typeface="Verdana"/>
                <a:cs typeface="Verdana"/>
              </a:rPr>
              <a:t>Glassware</a:t>
            </a:r>
            <a:endParaRPr sz="1800" dirty="0">
              <a:latin typeface="Verdana"/>
              <a:cs typeface="Verdana"/>
            </a:endParaRPr>
          </a:p>
          <a:p>
            <a:pPr marL="264160" indent="-252095">
              <a:lnSpc>
                <a:spcPct val="100000"/>
              </a:lnSpc>
              <a:spcBef>
                <a:spcPts val="1590"/>
              </a:spcBef>
              <a:buFont typeface="Noto Sans Symbols"/>
              <a:buChar char="□"/>
              <a:tabLst>
                <a:tab pos="264795" algn="l"/>
              </a:tabLst>
            </a:pPr>
            <a:r>
              <a:rPr sz="1800" spc="-5" dirty="0">
                <a:latin typeface="Verdana"/>
                <a:cs typeface="Verdana"/>
              </a:rPr>
              <a:t>Test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tubes</a:t>
            </a:r>
            <a:endParaRPr sz="1800" dirty="0">
              <a:latin typeface="Verdana"/>
              <a:cs typeface="Verdana"/>
            </a:endParaRPr>
          </a:p>
          <a:p>
            <a:pPr marL="264160" indent="-252095">
              <a:lnSpc>
                <a:spcPct val="100000"/>
              </a:lnSpc>
              <a:spcBef>
                <a:spcPts val="1590"/>
              </a:spcBef>
              <a:buFont typeface="Noto Sans Symbols"/>
              <a:buChar char="□"/>
              <a:tabLst>
                <a:tab pos="264795" algn="l"/>
              </a:tabLst>
            </a:pPr>
            <a:r>
              <a:rPr sz="1800" spc="-5" dirty="0">
                <a:latin typeface="Verdana"/>
                <a:cs typeface="Verdana"/>
              </a:rPr>
              <a:t>Test tube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holder</a:t>
            </a:r>
            <a:endParaRPr sz="1800" dirty="0">
              <a:latin typeface="Verdana"/>
              <a:cs typeface="Verdana"/>
            </a:endParaRPr>
          </a:p>
          <a:p>
            <a:pPr marL="264160" indent="-252095">
              <a:lnSpc>
                <a:spcPct val="100000"/>
              </a:lnSpc>
              <a:spcBef>
                <a:spcPts val="1590"/>
              </a:spcBef>
              <a:buFont typeface="Noto Sans Symbols"/>
              <a:buChar char="□"/>
              <a:tabLst>
                <a:tab pos="264795" algn="l"/>
              </a:tabLst>
            </a:pPr>
            <a:r>
              <a:rPr sz="1800" spc="-5" dirty="0">
                <a:latin typeface="Verdana"/>
                <a:cs typeface="Verdana"/>
              </a:rPr>
              <a:t>Dropper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3513" y="4328414"/>
            <a:ext cx="14173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94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7645" algn="l"/>
              </a:tabLst>
            </a:pPr>
            <a:r>
              <a:rPr sz="24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Verdana"/>
              </a:rPr>
              <a:t>Reagents</a:t>
            </a:r>
            <a:endParaRPr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3562" y="5029815"/>
            <a:ext cx="2045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70" dirty="0">
                <a:latin typeface="Noto Sans Symbols"/>
                <a:cs typeface="Noto Sans Symbols"/>
              </a:rPr>
              <a:t>□ </a:t>
            </a:r>
            <a:r>
              <a:rPr sz="1800" spc="-5" dirty="0">
                <a:latin typeface="Verdana"/>
                <a:cs typeface="Verdana"/>
              </a:rPr>
              <a:t>Biuret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reagents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3562" y="5506064"/>
            <a:ext cx="3128645" cy="77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160" indent="-252095">
              <a:lnSpc>
                <a:spcPct val="100000"/>
              </a:lnSpc>
              <a:spcBef>
                <a:spcPts val="100"/>
              </a:spcBef>
              <a:buFont typeface="Noto Sans Symbols"/>
              <a:buChar char="□"/>
              <a:tabLst>
                <a:tab pos="264795" algn="l"/>
              </a:tabLst>
            </a:pPr>
            <a:r>
              <a:rPr sz="1800" spc="-5" dirty="0">
                <a:latin typeface="Verdana"/>
                <a:cs typeface="Verdana"/>
              </a:rPr>
              <a:t>Test sample (liquid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milk)</a:t>
            </a:r>
            <a:endParaRPr sz="1800">
              <a:latin typeface="Verdana"/>
              <a:cs typeface="Verdana"/>
            </a:endParaRPr>
          </a:p>
          <a:p>
            <a:pPr marL="264160" indent="-252095">
              <a:lnSpc>
                <a:spcPct val="100000"/>
              </a:lnSpc>
              <a:spcBef>
                <a:spcPts val="1590"/>
              </a:spcBef>
              <a:buFont typeface="Noto Sans Symbols"/>
              <a:buChar char="□"/>
              <a:tabLst>
                <a:tab pos="264795" algn="l"/>
              </a:tabLst>
            </a:pPr>
            <a:r>
              <a:rPr sz="1800" spc="-5" dirty="0">
                <a:latin typeface="Verdana"/>
                <a:cs typeface="Verdana"/>
              </a:rPr>
              <a:t>Distilled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water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79073" y="1360993"/>
            <a:ext cx="15309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94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7645" algn="l"/>
              </a:tabLst>
            </a:pPr>
            <a:r>
              <a:rPr sz="2400" b="1" spc="-5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Verdana"/>
              </a:rPr>
              <a:t>Procedure</a:t>
            </a:r>
            <a:endParaRPr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68459" y="2077423"/>
            <a:ext cx="6477635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 marR="5080" indent="-534035">
              <a:lnSpc>
                <a:spcPct val="151600"/>
              </a:lnSpc>
              <a:spcBef>
                <a:spcPts val="100"/>
              </a:spcBef>
              <a:tabLst>
                <a:tab pos="546100" algn="l"/>
              </a:tabLst>
            </a:pPr>
            <a:r>
              <a:rPr sz="1800" spc="-5" dirty="0">
                <a:latin typeface="Arial"/>
                <a:cs typeface="Arial"/>
              </a:rPr>
              <a:t>1.	</a:t>
            </a:r>
            <a:r>
              <a:rPr sz="1800" spc="-5" dirty="0">
                <a:latin typeface="Verdana"/>
                <a:cs typeface="Verdana"/>
              </a:rPr>
              <a:t>Add </a:t>
            </a:r>
            <a:r>
              <a:rPr sz="1800" dirty="0">
                <a:latin typeface="Verdana"/>
                <a:cs typeface="Verdana"/>
              </a:rPr>
              <a:t>2 </a:t>
            </a:r>
            <a:r>
              <a:rPr sz="1800" spc="-5" dirty="0">
                <a:latin typeface="Verdana"/>
                <a:cs typeface="Verdana"/>
              </a:rPr>
              <a:t>ml of the milk sample to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clean and dry test  tube.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8459" y="3171529"/>
            <a:ext cx="3549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6100" algn="l"/>
              </a:tabLst>
            </a:pPr>
            <a:r>
              <a:rPr sz="1800" spc="-5" dirty="0">
                <a:latin typeface="Arial"/>
                <a:cs typeface="Arial"/>
              </a:rPr>
              <a:t>2.	</a:t>
            </a:r>
            <a:r>
              <a:rPr sz="1800" spc="-5" dirty="0">
                <a:latin typeface="Verdana"/>
                <a:cs typeface="Verdana"/>
              </a:rPr>
              <a:t>Add </a:t>
            </a:r>
            <a:r>
              <a:rPr sz="1800" dirty="0">
                <a:latin typeface="Verdana"/>
                <a:cs typeface="Verdana"/>
              </a:rPr>
              <a:t>2 </a:t>
            </a:r>
            <a:r>
              <a:rPr sz="1800" spc="-5" dirty="0">
                <a:latin typeface="Verdana"/>
                <a:cs typeface="Verdana"/>
              </a:rPr>
              <a:t>ml of biuret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regent.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8459" y="3572845"/>
            <a:ext cx="5826125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 marR="5080" indent="-534035">
              <a:lnSpc>
                <a:spcPct val="151600"/>
              </a:lnSpc>
              <a:spcBef>
                <a:spcPts val="100"/>
              </a:spcBef>
              <a:tabLst>
                <a:tab pos="546100" algn="l"/>
              </a:tabLst>
            </a:pPr>
            <a:r>
              <a:rPr sz="1800" spc="-5" dirty="0">
                <a:latin typeface="Arial"/>
                <a:cs typeface="Arial"/>
              </a:rPr>
              <a:t>3.	</a:t>
            </a:r>
            <a:r>
              <a:rPr sz="1800" spc="-5" dirty="0">
                <a:latin typeface="Verdana"/>
                <a:cs typeface="Verdana"/>
              </a:rPr>
              <a:t>Repeat the steps above with distilled water to  prepare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5" dirty="0">
                <a:latin typeface="Verdana"/>
                <a:cs typeface="Verdana"/>
              </a:rPr>
              <a:t>negative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control.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8459" y="4525343"/>
            <a:ext cx="6027420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 marR="5080" indent="-534035">
              <a:lnSpc>
                <a:spcPct val="151600"/>
              </a:lnSpc>
              <a:spcBef>
                <a:spcPts val="100"/>
              </a:spcBef>
              <a:tabLst>
                <a:tab pos="546100" algn="l"/>
              </a:tabLst>
            </a:pPr>
            <a:r>
              <a:rPr sz="1800" spc="-5" dirty="0">
                <a:latin typeface="Arial"/>
                <a:cs typeface="Arial"/>
              </a:rPr>
              <a:t>4.	</a:t>
            </a:r>
            <a:r>
              <a:rPr sz="1800" spc="-5" dirty="0">
                <a:latin typeface="Verdana"/>
                <a:cs typeface="Verdana"/>
              </a:rPr>
              <a:t>Shake well and allow the mixture to stand for </a:t>
            </a:r>
            <a:r>
              <a:rPr sz="1800" dirty="0">
                <a:latin typeface="Verdana"/>
                <a:cs typeface="Verdana"/>
              </a:rPr>
              <a:t>5  </a:t>
            </a:r>
            <a:r>
              <a:rPr sz="1800" spc="-5" dirty="0">
                <a:latin typeface="Verdana"/>
                <a:cs typeface="Verdana"/>
              </a:rPr>
              <a:t>minutes.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68459" y="5619449"/>
            <a:ext cx="36214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6100" algn="l"/>
              </a:tabLst>
            </a:pPr>
            <a:r>
              <a:rPr sz="1800" spc="-5" dirty="0">
                <a:latin typeface="Arial"/>
                <a:cs typeface="Arial"/>
              </a:rPr>
              <a:t>5.	</a:t>
            </a:r>
            <a:r>
              <a:rPr sz="1800" spc="-5" dirty="0">
                <a:latin typeface="Verdana"/>
                <a:cs typeface="Verdana"/>
              </a:rPr>
              <a:t>Observe any color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change.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/>
        </p:nvSpPr>
        <p:spPr>
          <a:xfrm>
            <a:off x="942109" y="2698463"/>
            <a:ext cx="10515600" cy="1624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n-US" sz="4500" b="1" dirty="0">
                <a:solidFill>
                  <a:srgbClr val="7F19B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Bodoni"/>
                <a:cs typeface="Bodoni"/>
                <a:sym typeface="Bodoni"/>
              </a:rPr>
              <a:t>Thank you!</a:t>
            </a:r>
            <a:endParaRPr sz="4500" b="1" dirty="0">
              <a:solidFill>
                <a:srgbClr val="7F19B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Bodoni"/>
              <a:cs typeface="Bodoni"/>
              <a:sym typeface="Bodon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593</Words>
  <Application>Microsoft Macintosh PowerPoint</Application>
  <PresentationFormat>Widescreen</PresentationFormat>
  <Paragraphs>69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Noto Sans Symbols</vt:lpstr>
      <vt:lpstr>Arial</vt:lpstr>
      <vt:lpstr>Calibri</vt:lpstr>
      <vt:lpstr>Calibri Light</vt:lpstr>
      <vt:lpstr>Garamond</vt:lpstr>
      <vt:lpstr>Times New Roman</vt:lpstr>
      <vt:lpstr>Verdana</vt:lpstr>
      <vt:lpstr>Wingdings</vt:lpstr>
      <vt:lpstr>Office Theme</vt:lpstr>
      <vt:lpstr>BIO103 Lab  (1 credit hour) FALL 2025</vt:lpstr>
      <vt:lpstr>PowerPoint Presentation</vt:lpstr>
      <vt:lpstr>PowerPoint Presentation</vt:lpstr>
      <vt:lpstr>PowerPoint Presentation</vt:lpstr>
      <vt:lpstr>PowerPoint Presentation</vt:lpstr>
      <vt:lpstr>Functions of Proteins</vt:lpstr>
      <vt:lpstr>Milk Protein</vt:lpstr>
      <vt:lpstr>Principle</vt:lpstr>
      <vt:lpstr>Principle (cont.)</vt:lpstr>
      <vt:lpstr>PowerPoint Presentation</vt:lpstr>
      <vt:lpstr>PowerPoint Presentation</vt:lpstr>
      <vt:lpstr>EXPERIMENT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BIO103 Lab  (1 credit hour) Summer 2023</dc:title>
  <dc:creator>Samia Kazi</dc:creator>
  <cp:lastModifiedBy>Hasan Chowdhury</cp:lastModifiedBy>
  <cp:revision>11</cp:revision>
  <dcterms:created xsi:type="dcterms:W3CDTF">2023-07-17T22:12:03Z</dcterms:created>
  <dcterms:modified xsi:type="dcterms:W3CDTF">2025-09-10T09:12:17Z</dcterms:modified>
</cp:coreProperties>
</file>